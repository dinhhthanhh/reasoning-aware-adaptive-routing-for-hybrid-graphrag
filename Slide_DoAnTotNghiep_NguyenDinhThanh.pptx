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Số văn bản viện dẫn</c:v>
                  </c:pt>
                  <c:pt idx="1">
                    <c:v>Độ dài câu hỏi</c:v>
                  </c:pt>
                  <c:pt idx="2">
                    <c:v>Tín hiệu xuyên văn bản</c:v>
                  </c:pt>
                  <c:pt idx="3">
                    <c:v>Số lần viện dẫn điều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0.3225</c:v>
                </c:pt>
                <c:pt idx="1">
                  <c:v>0.2131</c:v>
                </c:pt>
                <c:pt idx="2">
                  <c:v>0.0945</c:v>
                </c:pt>
                <c:pt idx="3">
                  <c:v>0.0917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A4A"/>
                </a:solidFill>
                <a:latin typeface="Arial"/>
              </a:rPr>
              <a:t>Answer F1 · benchmark 600 câu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Answer F1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Pure Vector</c:v>
                  </c:pt>
                  <c:pt idx="1">
                    <c:v>Pure Hybrid</c:v>
                  </c:pt>
                  <c:pt idx="2">
                    <c:v>Pure Graph</c:v>
                  </c:pt>
                  <c:pt idx="3">
                    <c:v>Hai giai đoạn</c:v>
                  </c:pt>
                  <c:pt idx="4">
                    <c:v>Oracle</c:v>
                  </c:pt>
                  <c:pt idx="5">
                    <c:v>Single-stage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0.663</c:v>
                </c:pt>
                <c:pt idx="1">
                  <c:v>0.66</c:v>
                </c:pt>
                <c:pt idx="2">
                  <c:v>0.633</c:v>
                </c:pt>
                <c:pt idx="3">
                  <c:v>0.636</c:v>
                </c:pt>
                <c:pt idx="4">
                  <c:v>0.564</c:v>
                </c:pt>
                <c:pt idx="5">
                  <c:v>0.474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A4A"/>
                </a:solidFill>
                <a:latin typeface="Arial"/>
              </a:rPr>
              <a:t>Macro-F1 các bộ định tuyến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16375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Majority</c:v>
                  </c:pt>
                  <c:pt idx="1">
                    <c:v>Keyword Rule</c:v>
                  </c:pt>
                  <c:pt idx="2">
                    <c:v>Simple 3-Rule</c:v>
                  </c:pt>
                  <c:pt idx="3">
                    <c:v>LogReg</c:v>
                  </c:pt>
                  <c:pt idx="4">
                    <c:v>Random Forest</c:v>
                  </c:pt>
                  <c:pt idx="5">
                    <c:v>XGBoost (GĐ1)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0.222</c:v>
                </c:pt>
                <c:pt idx="1">
                  <c:v>0.298</c:v>
                </c:pt>
                <c:pt idx="2">
                  <c:v>0.67</c:v>
                </c:pt>
                <c:pt idx="3">
                  <c:v>0.982</c:v>
                </c:pt>
                <c:pt idx="4">
                  <c:v>0.99</c:v>
                </c:pt>
                <c:pt idx="5">
                  <c:v>0.995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A4A"/>
                </a:solidFill>
                <a:latin typeface="Arial"/>
              </a:rPr>
              <a:t>Clarify F1 · benchmark mơ hồ 234 câu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Clarify F1</c:v>
                </c:pt>
              </c:strCache>
            </c:strRef>
          </c:tx>
          <c:spPr>
            <a:solidFill>
              <a:srgbClr val="E0A03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Chỉ Giai đoạn 1</c:v>
                  </c:pt>
                  <c:pt idx="1">
                    <c:v>Giai đoạn 1+2</c:v>
                  </c:pt>
                  <c:pt idx="2">
                    <c:v>Chính sách đầy đủ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0.684</c:v>
                </c:pt>
                <c:pt idx="2">
                  <c:v>0.84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hội đồng, giới thiệu tên, MSSV, tên đề tài, GVHD. ~15 giây.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loại câu hỏi có nhu cầu khác nhau. Chốt: một chiến lược cố định không đáp ứng được cả 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hạn chế ↔ 3 trục giải pháp. Nhấn đóng góp 4 — phát hiện Oracle.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3.1. Trái→phải: 2 nguồn tri thức ngoại tuyến → router → sinh câu trả lời hoặc hỏi làm rõ.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tuyến gắn với bản chất câu hỏi. Nhấn: quyết định TRƯỚC truy hồi.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3.2 — sơ đồ pipeline. Nói kỹ cổng Γ: Giai đoạn 2 chỉ gọi khi 1 trong 4 điều kiện đúng (bất định / mơ hồ / đa chặng / lịch sử xung đột). Γ=0 thì đi đường tắt cho nhanh.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KG. AMENDS/REPLACES thưa → lý do cần router thích ứng.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gộp: (1) chia + gán nhãn tất định + paraphrase; (2) tách rời không rò rỉ (điểm mạnh); (3) khoảng cách thực tế + 3 lớp bọc lót. Nếu cô mở file train/test, đây là slide quay lại.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 = 16 lexical + 11 complexity. Feature tường minh: diễn giải + rẻ. Importance chứng minh học cấu trúc.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Trọng tâm. Nói rõ 4 điều kiện Γ. Stage 2 đắt 119× nên chỉ gọi khi cần — đúng tinh thần latency-aware.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Cùng câu hỏi, tuyến khác nhau tuỳ lịch sử. conflicting_history buộc gọi Stage 2. Đóng góp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3.4. 3 tầng. vLLM dùng chung Qwen3-32B cho Stage 2 và sinh câu trả lời.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Điểm nhấn lý thuyết: nếu Stage 2 chỉ sửa tuyến thì không vượt được Oracle. Vượt Oracle = bằng chứng Stage 2 cải thiện cả bước sinh câu trả lời.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đinh. Nhấn +0.072 vượt Oracle và +0.162 vs single-stage. Chủ động thừa nhận Pure Vector cao nhất.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Học máy vượt heuristic; 0.995 sau paraphrase = chống data leakage; rẻ hơn PhoBERT ~6 lần.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không làm rõ (không có nhãn clarify) → clarify phát sinh từ Stage 2. Mơ hồ ngữ nghĩa còn là thách thức →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τ_conf điều khiển chi phí; τ_clar điều khiển độ chính xác. Stage 2 đắt 119× → gọi chọn lọc; đánh đổi có lợi.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Gộp kết luận + hạn chế. Nhấn phát hiện Oracle. Mỗi hạn chế có hướng khắc phục — phần cô hay hỏi.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 &amp; mời hội đồng đặt câu hỏi. Chủ động đề nghị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640080"/>
            <a:ext cx="2377440" cy="2377440"/>
          </a:xfrm>
          <a:prstGeom prst="ellipse">
            <a:avLst/>
          </a:prstGeom>
          <a:solidFill>
            <a:srgbClr val="16375E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572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1371600"/>
            <a:ext cx="457200" cy="457200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HỌC BÁCH KHOA HÀ NỘI  ·  TRƯỜNG CNTT &amp; TRUYỀN THÔNG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TỐT NGHIỆP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Định tuyến thích ứng nhận biết suy luận và độ trễ</a:t>
            </a:r>
            <a:endParaRPr lang="en-US" sz="3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 Hybrid GraphRAG trong hỏi đáp pháp luật tiếng Việt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Reasoning-aware &amp; Latency-aware Adaptive Routing for Hybrid GraphRAG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4160520"/>
            <a:ext cx="47548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97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</a:t>
            </a:r>
            <a:pPr indent="0" marL="0">
              <a:buNone/>
            </a:pPr>
            <a:r>
              <a:rPr lang="en-US" sz="15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Đình Thành — 20225670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</a:t>
            </a:r>
            <a:pPr indent="0" marL="0">
              <a:buNone/>
            </a:pPr>
            <a:r>
              <a:rPr lang="en-US" sz="15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Phạm Văn Hải   ·   Ngành Khoa học Máy tính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5394960"/>
            <a:ext cx="3401568" cy="960120"/>
          </a:xfrm>
          <a:prstGeom prst="roundRect">
            <a:avLst>
              <a:gd name="adj" fmla="val 6667"/>
            </a:avLst>
          </a:prstGeom>
          <a:solidFill>
            <a:srgbClr val="1637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5532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tuyến định tuyến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2688" y="5879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· graph · hybrid · clarify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5394960"/>
            <a:ext cx="3401568" cy="960120"/>
          </a:xfrm>
          <a:prstGeom prst="roundRect">
            <a:avLst>
              <a:gd name="adj" fmla="val 6667"/>
            </a:avLst>
          </a:prstGeom>
          <a:solidFill>
            <a:srgbClr val="1637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5532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2 giai đoạn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44568" y="5879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+  LLM Verifier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5394960"/>
            <a:ext cx="3401568" cy="960120"/>
          </a:xfrm>
          <a:prstGeom prst="roundRect">
            <a:avLst>
              <a:gd name="adj" fmla="val 6667"/>
            </a:avLst>
          </a:prstGeom>
          <a:solidFill>
            <a:srgbClr val="1637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6448" y="5532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thị 804K nút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56448" y="5879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Pháp điển điện tử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Nội, 06/2026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· BÀI TOÁN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Cùng một hệ RAG — nhưng câu hỏi pháp luật không đồng nhất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727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ĐƠN (single-hop)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“Điều kiện cấp giấy phép xây dựng nhà ở riêng lẻ là gì?”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Chỉ cần 1 điều khoản. Tra cứu vector là đủ.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257800" cy="2514600"/>
          </a:xfrm>
          <a:prstGeom prst="roundRect">
            <a:avLst>
              <a:gd name="adj" fmla="val 3273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904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HỆ / ĐA CHẶNG (multi-hop)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206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“Văn bản nào sửa đổi Nghị định 100/2019 và mức phạt theo văn bản sửa đổi là bao nhiêu?”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Phải lần theo quan hệ SỬA ĐỔI. Vector “mù” quan hệ.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FBF3E4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5727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NGỮ CẢNH (mơ hồ)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“Văn bản đó còn hiệu lực không?” — chưa rõ “văn bản đó” là gì.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Trả lời ngay = rủi ro neo sai căn cứ pháp lý.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80760" y="3749040"/>
            <a:ext cx="5532120" cy="2514600"/>
          </a:xfrm>
          <a:prstGeom prst="roundRect">
            <a:avLst>
              <a:gd name="adj" fmla="val 3273"/>
            </a:avLst>
          </a:prstGeom>
          <a:solidFill>
            <a:srgbClr val="0F2A4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CỐT LÕI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42245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chiến lược truy hồi CỐ ĐỊNH cho mọi câu đều không tối ưu: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47091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Vector → bỏ sót quan hệ pháp lý.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duyệt đồ thị → lãng phí, tăng độ trễ.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cơ chế “dừng lại hỏi cho rõ”.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· KHOẢNG TRỐNG &amp; ĐÓNG GÓP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hạn chế hiện tại → bốn đóng góp của đồ án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4617720"/>
          </a:xfrm>
          <a:prstGeom prst="roundRect">
            <a:avLst>
              <a:gd name="adj" fmla="val 1782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HẠN CHẾ HIỆN TẠI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E76F6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RAG lai bật cả hai cơ chế cho MỌI câu → lãng phí chi phí.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E76F6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83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2918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tuyến thích ứng (Adaptive-RAG…) chỉ chọn độ sâu / cỡ mô hình, không chọn giữa Vector và Graph.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E76F6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709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61772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coi LÀM RÕ là một hành động định tuyến cho pháp luật tiếng Việt.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E8F0F6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ĐÓNG GÓP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20116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0391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949440" y="198424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thức hoá định tuyến 4 hướng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dense · graph · hybrid · clarify, quyết định trước khi truy hồi.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299923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0266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49440" y="2971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2 giai đoạn nhận biết chi phí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XGBoost nhẹ + LLM Verifier gọi CÓ CHỌN LỌC.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39867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0142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49440" y="395935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mơ hồ theo lịch sử hội thoại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tránh làm rõ thừa khi ngữ cảnh đã đủ.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497433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FBFA0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50017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949440" y="494690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 toàn diện + phát hiện Oracle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hệ 2 giai đoạn vượt cả Oracle → Giai đoạn 2 là bước suy luận tường minh.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TỔNG QUAN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dữ liệu tổng thể của hệ thống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743200" cy="4480560"/>
          </a:xfrm>
          <a:prstGeom prst="roundRect">
            <a:avLst>
              <a:gd name="adj" fmla="val 3000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NGOẠI TUYẾN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Pháp điển điện tử (C)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24688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mục vector Iᵥ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68.835 đoạn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token, overlap 32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160520"/>
            <a:ext cx="2468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5240">
            <a:solidFill>
              <a:srgbClr val="0F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15968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thị tri thức 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804.322 nút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1.968.621 cạnh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83280" y="3794760"/>
            <a:ext cx="68580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60520" y="155448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0F2A4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ĐỊNH TUYẾN 2 GIAI ĐOẠN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43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vào: (qₜ , lịch sử H)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2514600"/>
            <a:ext cx="3520440" cy="1005840"/>
          </a:xfrm>
          <a:prstGeom prst="roundRect">
            <a:avLst>
              <a:gd name="adj" fmla="val 6364"/>
            </a:avLst>
          </a:prstGeom>
          <a:solidFill>
            <a:srgbClr val="1637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26517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 — XGBoost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nhanh trên 27 đặc trưng (&lt; 10 ms)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0" y="365760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16375E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3803904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 — LLM Verifier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gọi khi Γ = 1 (bất định / mơ hồ / đa chặng)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89120" y="4892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1 trong 4 hành động d*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9120" y="5257800"/>
            <a:ext cx="3520440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52578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dᵥ dense · d_g graph · d_h hybrid · d_c clarify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3794760"/>
            <a:ext cx="68580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69680" y="1554480"/>
            <a:ext cx="2743200" cy="4480560"/>
          </a:xfrm>
          <a:prstGeom prst="roundRect">
            <a:avLst>
              <a:gd name="adj" fmla="val 3000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0684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KẾT QUẢ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06840" y="2057400"/>
            <a:ext cx="246888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2240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hồi bằng chứng 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tuyến đã chọn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 sinh câu trả lời aₜ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006840" y="3840480"/>
            <a:ext cx="2468880" cy="1417320"/>
          </a:xfrm>
          <a:prstGeom prst="roundRect">
            <a:avLst>
              <a:gd name="adj" fmla="val 4516"/>
            </a:avLst>
          </a:prstGeom>
          <a:solidFill>
            <a:srgbClr val="FBF3E4"/>
          </a:solidFill>
          <a:ln w="15240">
            <a:solidFill>
              <a:srgbClr val="E0A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0" y="4005072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 câu hỏi làm rõ cₜ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d* = clarify: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truy hồi, hỏi lại người dùng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ĐỊNH NGHĨA BÀI TOÁN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hành động định tuyến  D = {dᵥ, d_g, d_h, d_c}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73936"/>
            <a:ext cx="1234440" cy="676656"/>
          </a:xfrm>
          <a:prstGeom prst="roundRect">
            <a:avLst>
              <a:gd name="adj" fmla="val 945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73936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dᵥ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24028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dense_retrieval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240280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hồi dày đặc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12080" y="1755648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trả lời nằm trọn trong MỘT điều → tra top-k đoạn gần nhất trong Iᵥ.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44368"/>
            <a:ext cx="1234440" cy="676656"/>
          </a:xfrm>
          <a:prstGeom prst="roundRect">
            <a:avLst>
              <a:gd name="adj" fmla="val 9459"/>
            </a:avLst>
          </a:prstGeom>
          <a:solidFill>
            <a:srgbClr val="16375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44368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2402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graph_traversal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4028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đồ thị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12080" y="2926080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liên kết nhiều điều cùng văn bản / quan hệ sửa đổi–bãi bỏ → duyệt G.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114800"/>
            <a:ext cx="1234440" cy="676656"/>
          </a:xfrm>
          <a:prstGeom prst="roundRect">
            <a:avLst>
              <a:gd name="adj" fmla="val 9459"/>
            </a:avLst>
          </a:prstGeom>
          <a:solidFill>
            <a:srgbClr val="2FBFA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14800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d_h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240280" y="4096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hybrid_reasoning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240280" y="4462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lai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12080" y="4096512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trải trên NHIỀU văn bản → hợp nhất Eᵥ ∪ E_g.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084064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285232"/>
            <a:ext cx="1234440" cy="676656"/>
          </a:xfrm>
          <a:prstGeom prst="roundRect">
            <a:avLst>
              <a:gd name="adj" fmla="val 9459"/>
            </a:avLst>
          </a:prstGeom>
          <a:solidFill>
            <a:srgbClr val="E0A03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285232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d_c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240280" y="5266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clarify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240280" y="5632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rõ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212080" y="5266944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ngữ cảnh xác định đối tượng pháp lý → KHÔNG truy hồi, hỏi lại.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định tuyến ρ: (qₜ, H) → d*  quyết định TRƯỚC khi bất kỳ truy hồi nào diễn ra.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xử lý của router — cổng Γ quyết định khi nào gọi Giai đoạn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42032" cy="91440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1907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(qₜ , H)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+ lịch sử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90672" y="2011680"/>
            <a:ext cx="219456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10128" y="1554480"/>
            <a:ext cx="2542032" cy="914400"/>
          </a:xfrm>
          <a:prstGeom prst="roundRect">
            <a:avLst>
              <a:gd name="adj" fmla="val 7000"/>
            </a:avLst>
          </a:prstGeom>
          <a:solidFill>
            <a:srgbClr val="F1F6FA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71907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HistoryResolver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1568" y="2084832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trạng thái r_H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0" y="2011680"/>
            <a:ext cx="219456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71616" y="1554480"/>
            <a:ext cx="2542032" cy="914400"/>
          </a:xfrm>
          <a:prstGeom prst="roundRect">
            <a:avLst>
              <a:gd name="adj" fmla="val 7000"/>
            </a:avLst>
          </a:prstGeom>
          <a:solidFill>
            <a:srgbClr val="F1F6FA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171907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đặc trưng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63056" y="2084832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, φ_amb , 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13648" y="2011680"/>
            <a:ext cx="219456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33104" y="1554480"/>
            <a:ext cx="2542032" cy="914400"/>
          </a:xfrm>
          <a:prstGeom prst="roundRect">
            <a:avLst>
              <a:gd name="adj" fmla="val 7000"/>
            </a:avLst>
          </a:prstGeom>
          <a:solidFill>
            <a:srgbClr val="0F2A4A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24544" y="171907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 · XGBoost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24544" y="2084832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(d₁ , s₁)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058400" y="2468880"/>
            <a:ext cx="0" cy="32004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297180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0F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1089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KÍCH HOẠT Γ  —  chỉ gọi Giai đoạn 2 khi Γ = 1  (một trong bốn điều kiện đúng)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35204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16375E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35935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γ_conf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6968" y="3858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 thiếu chắc chắn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86968" y="411480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 &lt; τ_conf = 0.50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10712" y="37033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∨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547872" y="35204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16375E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35935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γ_amb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0" y="3858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mơ hồ cao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57600" y="411480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φ_amb ≥ τ_force = 0.60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81344" y="37033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∨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18504" y="35204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16375E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5935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γ_hop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28232" y="3858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 hiệu đa chặng mạnh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28232" y="411480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 ≥ 2 (≥ 2 văn bản/quan hệ)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951976" y="37033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∨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89136" y="35204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16375E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98864" y="35935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r_H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198864" y="3858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hội thoại xung đột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198864" y="411480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buộc Γ = 1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108960" y="4526280"/>
            <a:ext cx="0" cy="27432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778240" y="4526280"/>
            <a:ext cx="0" cy="27432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22960" y="4892040"/>
            <a:ext cx="4846320" cy="868680"/>
          </a:xfrm>
          <a:prstGeom prst="roundRect">
            <a:avLst>
              <a:gd name="adj" fmla="val 7368"/>
            </a:avLst>
          </a:prstGeom>
          <a:solidFill>
            <a:srgbClr val="F1F6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" y="501091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  →  nhận thẳng d₁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qua Giai đoạn 2 — nhanh, rẻ (đa số câu hỏi rõ ràng)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492240" y="4892040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E8F0F6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5010912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1  →  Giai đoạn 2 (LLM Verifier) kiểm chứng → d*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/ đổi tuyến / chuyển sang clarify + sinh chuỗi lập luận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Thực thi tuyến d*: truy hồi bằng chứng &amp; sinh câu trả lời  —  hoặc trả câu hỏi làm rõ (nếu d* = clarify)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CƠ SỞ TRI THỨC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nguồn tri thức bổ trợ từ Bộ Pháp điển điện tử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MỤC VECTOR Iᵥ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68.835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đoạn văn bản được nhúng (ChromaDB)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256 token, overlap 32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Harrier-OSS-v1-0.6B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hồi top-k = 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554480"/>
            <a:ext cx="736092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7190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THỊ TRI THỨC PHÁP LUẬT G  (Neo4j)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804.322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0560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|V|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36208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1.968.621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36208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Cạnh |E|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91856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B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4.598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bản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747504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68.570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747504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luật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80560" y="3246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hệ chính (theo số cạnh)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3566160"/>
          <a:ext cx="6903720" cy="1508760"/>
        </p:xfrm>
        <a:graphic>
          <a:graphicData uri="http://schemas.openxmlformats.org/drawingml/2006/table">
            <a:tbl>
              <a:tblPr/>
              <a:tblGrid>
                <a:gridCol w="2194560"/>
                <a:gridCol w="1234440"/>
                <a:gridCol w="219456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1.033.341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202.298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128.768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76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AMENDS (sửa đổi)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76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76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(thay thế)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76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BF3E4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9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 đối xứng quan trọng:  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hệ hiệu lực xuyên văn bản (AMENDS, REPLACES) rất THƯA so với MENTIONS → duyệt đồ thị đáng cho câu giàu quan hệ nhưng tốn kém cho tra cứu đơn → động lực trực tiếp cho định tuyến thích ứng.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BỘ DỮ LIỆU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dữ liệu định tuyến: tách rời không rò rỉ &amp; khoảng cách thực tế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794760" cy="452628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CHIA (1.500 cặp)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3429000" cy="1371600"/>
        </p:xfrm>
        <a:graphic>
          <a:graphicData uri="http://schemas.openxmlformats.org/drawingml/2006/table">
            <a:tbl>
              <a:tblPr/>
              <a:tblGrid>
                <a:gridCol w="1051560"/>
                <a:gridCol w="594360"/>
                <a:gridCol w="594360"/>
                <a:gridCol w="594360"/>
                <a:gridCol w="59436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Tập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520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nhãn TẤT ĐỊNH theo cấu trúc bằng chứng: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840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điều → dense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điều, 1 văn bản → graph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văn bản → hybrid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8920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paraphrase tập test → chống rò rỉ nhãn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52120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benchmark mơ hồ 234 câu · hội thoại 160 câu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26280" y="1554480"/>
            <a:ext cx="3429000" cy="4526280"/>
          </a:xfrm>
          <a:prstGeom prst="roundRect">
            <a:avLst>
              <a:gd name="adj" fmla="val 2400"/>
            </a:avLst>
          </a:prstGeom>
          <a:solidFill>
            <a:srgbClr val="E8F0F6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0916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RỜI — KHÔNG RÒ RỈ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709160" y="2057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5715000" y="2331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trùng train ∩ test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754880" y="31089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trên article_key · law · canonical_id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văn bản/điều nào ở cả hai tập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điểm định tuyến là held-out thật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38160" y="1554480"/>
            <a:ext cx="3474720" cy="4526280"/>
          </a:xfrm>
          <a:prstGeom prst="roundRect">
            <a:avLst>
              <a:gd name="adj" fmla="val 2368"/>
            </a:avLst>
          </a:prstGeom>
          <a:solidFill>
            <a:srgbClr val="FBF3E4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2104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THỰC TẾ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321040" y="2011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câu có số hiệu văn bản (dữ liệu sinh tự động) — người dùng thực không hỏi vậy.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32104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lớp bọc lót: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366760" y="31546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theo nghĩa (Dense) cho câu dân dã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Bơm thêm câu dân dã khi huấn luyện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lại khi câu quá mơ hồ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2104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9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Hướng: benchmark do người soạn.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ĐẶC TRƯNG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Véc-tơ 27 chiều — nhận biết suy luận, chi phí thấp, diễn giải được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007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nhóm đặc trưng tường minh f ∈ ℝ²⁷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103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Bề mặt câu hỏi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43230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dài, số thực thể pháp lý nhận dạng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108960"/>
            <a:ext cx="256032" cy="256032"/>
          </a:xfrm>
          <a:prstGeom prst="ellipse">
            <a:avLst/>
          </a:prstGeom>
          <a:solidFill>
            <a:srgbClr val="16375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báo suy luận quan hệ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3924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khoá so sánh, thủ tục, điều kiện, ngoại lệ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069080"/>
            <a:ext cx="256032" cy="256032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023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 hiệu đa chặng ξ ∈ {0,1,2}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35254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đơn chặng · 1 có thể đa chặng · 2 mạnh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5029200"/>
            <a:ext cx="256032" cy="256032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983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mơ hồ φ_amb ∈ [0,1]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531266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từ chưa giải quyết + trạng thái lịch sử r_H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17007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quan trọng đặc trưng (XGBoost)</a:t>
            </a:r>
            <a:endParaRPr lang="en-US" sz="13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355080" y="2103120"/>
          <a:ext cx="51663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400800" y="5120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do đặc trưng CẤU TRÚC chi phối — không phải dấu hiệu từ vựng giả tạo → bền vững sau paraphrase.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BỘ ĐỊNH TUYẾN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Giai đoạn 1 rẻ cho mọi câu — Giai đoạn 2 đắt, gọi có chọn lọc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00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 — XGBoost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đặc trưng → (d₁, s₁)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8.9 ms trên CPU (vs PhoBERT 53.3 ms GPU)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phần lớn lưu lượng, diễn giải được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566160"/>
            <a:ext cx="49377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 — LLM Verifier (Qwen3-32B)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/ đổi tuyến / chuyển sang clarify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chuỗi lập luận (Chain-of-Thought)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4.017 ms/lượt — đắt hơn Giai đoạn 1 ~119×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5486400" cy="3977640"/>
          </a:xfrm>
          <a:prstGeom prst="roundRect">
            <a:avLst>
              <a:gd name="adj" fmla="val 2069"/>
            </a:avLst>
          </a:prstGeom>
          <a:solidFill>
            <a:srgbClr val="0F2A4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719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GỌI GIAI ĐOẠN 2?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20299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γ_conf ∨ γ_amb ∨ γ_hop ∨ (lịch sử xung đột)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251460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16375E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5877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γ_conf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 thấp: s₁ &lt; 0.50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06324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16375E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1363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γ_amb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mơ hồ cao: φ_amb ≥ 0.60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61188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16375E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685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γ_hop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chặng mạnh: ξ ≥ 2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416052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16375E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2336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r_H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hội thoại xung đột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09360" y="48006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 → nhận thẳng d₁ (bỏ qua Stage 2). Ngưỡng τ chỉnh được, không cần biên dịch lại.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XỬ LÝ MƠ HỒ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quyết tham chiếu dựa trên lịch sử hội thoại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HistoryResolver — thành phần TẤT ĐỊNH trả về trạng thái r_H: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76809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066544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2FBFA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665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46120" y="203911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chiếu đã xác định rõ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0" y="203911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truy hồi bình thường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76809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889504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E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895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no_history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46120" y="286207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tham chiếu nhưng H rỗng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0" y="286207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làm rõ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76809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712464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E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124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irrelevant_history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46120" y="368503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không liên quan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0" y="368503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làm rõ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76809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535424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E76F63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5354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conflicting_history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46120" y="450799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nhắc nhiều đối tượng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0" y="450799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BUỘC Γ = 1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76809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5358384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3583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not_needed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46120" y="533095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tham chiếu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0" y="533095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theo tuyến thường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412480" y="1920240"/>
            <a:ext cx="3200400" cy="4023360"/>
          </a:xfrm>
          <a:prstGeom prst="roundRect">
            <a:avLst>
              <a:gd name="adj" fmla="val 2571"/>
            </a:avLst>
          </a:prstGeom>
          <a:solidFill>
            <a:srgbClr val="0F2A4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9536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95360" y="2377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“Văn bản đó còn hiệu lực không?”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595360" y="3154680"/>
            <a:ext cx="28346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0" y="329184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rỗng → no_history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clarify (hỏi lại)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có “NĐ 100/2019” → resolved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graph_traversal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TRIỂN KHAI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triển khai theo tầng dịch vụ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80160" y="1737360"/>
            <a:ext cx="9601200" cy="1280160"/>
          </a:xfrm>
          <a:prstGeom prst="roundRect">
            <a:avLst>
              <a:gd name="adj" fmla="val 6429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965960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GIAO DIỆN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2368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43400" y="199339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nhập câu hỏi, hiển thị tuyến &amp; nguồn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3017520"/>
            <a:ext cx="0" cy="18288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80160" y="3200400"/>
            <a:ext cx="9601200" cy="1280160"/>
          </a:xfrm>
          <a:prstGeom prst="roundRect">
            <a:avLst>
              <a:gd name="adj" fmla="val 6429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08760" y="3429000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16375E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DỊCH VỤ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38313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43400" y="345643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phối: NER → đặc trưng → router 2 giai đoạn → sinh câu trả lời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80760" y="4480560"/>
            <a:ext cx="0" cy="18288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80160" y="4663440"/>
            <a:ext cx="9601200" cy="1280160"/>
          </a:xfrm>
          <a:prstGeom prst="roundRect">
            <a:avLst>
              <a:gd name="adj" fmla="val 6429"/>
            </a:avLst>
          </a:prstGeom>
          <a:solidFill>
            <a:srgbClr val="E8F0F6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508760" y="4892040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2FBFA0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4983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TRI THỨC / MÔ HÌNH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52943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Neo4j · vLLM (Qwen3-32B-AWQ)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43400" y="491947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Iᵥ, G, và LLM cho Giai đoạn 2 + sinh câu trả lời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280160" y="6126480"/>
            <a:ext cx="96012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08760" y="61996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ner-vietnamese-electra-base    </a:t>
            </a:r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Harrier-OSS-v1-0.6B  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phục vụ chung cho Stage 2 + sinh câu trả lời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PHÂN TÍCH LÝ THUYẾT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Giai đoạn 2 có thể vượt cả Oracle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007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rã lỗi đầu cuối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0848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1 − F1 ≈ Err_route + Err_retrieve + Err_gen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dùng nhãn hoàn hảo → Err_route = 0, nhưng vẫn giữ nguyên Err_gen.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Giai đoạn 2 chỉ sửa tuyến → không thể vượt Oracle.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 cho thấy VƯỢT Oracle → Giai đoạn 2 còn giảm Err_gen (bước suy luận tường minh).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0F2A4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CỐT LÕI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Giai đoạn 2 = một bước Chain-of-Thought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mô hình ngôn ngữ phân tích ý định câu hỏi và ràng buộc pháp lý trước khi quyết định tuyến, chuỗi lập luận đó làm bước sinh câu trả lời chính xác hơn — không chỉ chọn đúng đường.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754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Được xác nhận bằng thực nghiệm ở RQ1 (slide sau).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· RQ1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đầu cuối — hệ 2 giai đoạn vượt cả Oracle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00200"/>
          <a:ext cx="585216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60020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0F2A4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6656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vượt Oracle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76656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+0.072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869680" y="196596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0.636 vs Oracle 0.564. Cùng hạ tầng truy hồi → khác biệt chỉ do suy luận của Giai đoạn 2.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0" y="388620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66560" y="4023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vs Single-stage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66560" y="42793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+0.162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869680" y="41605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0.636 vs 0.474. Chung một Giai đoạn 1 → chênh lệch do cơ chế kiểm chứng của Giai đoạn 2.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Vector (0.663) mạnh nhất cho tra cứu trực tiếp — giá trị router là xử lý ĐÚNG câu giàu quan hệ &amp; vượt Oracle nhờ Giai đoạn 2.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· RQ2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Độ chính xác định tuyến trên tập đã paraphrase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0020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600200"/>
            <a:ext cx="4251960" cy="2103120"/>
          </a:xfrm>
          <a:prstGeom prst="roundRect">
            <a:avLst>
              <a:gd name="adj" fmla="val 3913"/>
            </a:avLst>
          </a:prstGeom>
          <a:solidFill>
            <a:srgbClr val="0F2A4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0" y="1755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Macro-F1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89520" y="20574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0.995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589520" y="28803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độ chính xác cao SAU KHI paraphrase → học tín hiệu cấu trúc, không ghi nhớ khuôn mẫu.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06640" y="3840480"/>
            <a:ext cx="4251960" cy="1920240"/>
          </a:xfrm>
          <a:prstGeom prst="roundRect">
            <a:avLst>
              <a:gd name="adj" fmla="val 4286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58952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suy luận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35240" y="43159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≈ 8.9 ms (CPU)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PhoBERT: ≈ 53.3 ms (GPU)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635240" y="5257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phù hợp làm cổng định tuyến thời gian thực.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· RQ3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Xử lý mơ hồ — làm rõ với precision tuyệt đối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45920"/>
          <a:ext cx="6035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5989320" cy="1508760"/>
          </a:xfrm>
          <a:prstGeom prst="roundRect">
            <a:avLst>
              <a:gd name="adj" fmla="val 5455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4709160"/>
            <a:ext cx="5623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1.000 xuyên suốt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không bao giờ làm gián đoạn một câu hỏi vốn trả lời được. Rất quan trọng trong pháp luật.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20840" y="1645920"/>
            <a:ext cx="4937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0372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theo loại mơ hồ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121408"/>
          <a:ext cx="4572000" cy="169164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</a:tblGrid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Tham chiếu đại từ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FB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Thiếu ngữ cảnh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FB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Thiếu thực thể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76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Đa cách hiểu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76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720840" y="4114800"/>
            <a:ext cx="4937760" cy="1965960"/>
          </a:xfrm>
          <a:prstGeom prst="roundRect">
            <a:avLst>
              <a:gd name="adj" fmla="val 4186"/>
            </a:avLst>
          </a:prstGeom>
          <a:solidFill>
            <a:srgbClr val="0F2A4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90372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giao sang hội thoại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903720" y="45720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F1: 0.545 → 0.862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quyết lịch sử: 0.850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(kiểm thử hội thoại 160 câu)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· RQ4 &amp; RQ5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Khảo sát ngưỡng &amp; đánh đổi chi phí – chất lượng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007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— Khảo sát ngưỡng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τ_conf 0.50→0.99: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giữ 0.7529, tỉ lệ S2 tăng 0.23→0.60 → τ_conf là “núm” chi phí, không đổi độ chính xác.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τ_clar 0.50→0.95: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0.684→0.845 → ngưỡng làm rõ nghiêm ngặt hơn tránh gián đoạn câu trả lời được.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Hai mục tiêu cần hiệu chỉnh đồng thời.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0F2A4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7007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 — Chi phí – chất lượng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≈ 4.017 ms/lượt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≈ 33.7 ms/lượt  → chênh ~119 lần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3063240"/>
            <a:ext cx="5029200" cy="1417320"/>
          </a:xfrm>
          <a:prstGeom prst="roundRect">
            <a:avLst>
              <a:gd name="adj" fmla="val 4516"/>
            </a:avLst>
          </a:prstGeom>
          <a:solidFill>
            <a:srgbClr val="1637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2004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gọi Stage 2 là bất khả thi.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CÓ CHỌN LỌC (79.3%) là thiết kế thực dụng — chi phí phụ được đền bù bằng +0.072 F1 vượt Oracle, điều chỉnh qua τ_conf.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4663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nhanh hơn không đáng kể nhưng mất +0.162 F1.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6 · KẾT LUẬN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đạt được &amp; hạn chế — hướng phát triển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526280"/>
          </a:xfrm>
          <a:prstGeom prst="roundRect">
            <a:avLst>
              <a:gd name="adj" fmla="val 1818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007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ĐẠT ĐƯỢC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0848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206654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2 giai đoạn reasoning- &amp; latency-aware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XGBoost xử lý phần lớn + LLM Verifier chọn lọc.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044952"/>
            <a:ext cx="457200" cy="457200"/>
          </a:xfrm>
          <a:prstGeom prst="ellipse">
            <a:avLst/>
          </a:prstGeom>
          <a:solidFill>
            <a:srgbClr val="16375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302666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cốt lõi: vượt Oracle +0.072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Giai đoạn 2 là bước suy luận tường minh.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005072"/>
            <a:ext cx="457200" cy="457200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398678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tuyến chính xác &amp; bền vững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XGBoost Macro-F1 0.995 sau paraphrase.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965192"/>
            <a:ext cx="457200" cy="45720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94690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rõ an toàn, precision = 1.000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Clarify F1 0→0.684→0.840; hội thoại 0.862.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1554480"/>
            <a:ext cx="5394960" cy="4526280"/>
          </a:xfrm>
          <a:prstGeom prst="roundRect">
            <a:avLst>
              <a:gd name="adj" fmla="val 1818"/>
            </a:avLst>
          </a:prstGeom>
          <a:solidFill>
            <a:srgbClr val="FBF3E4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17007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&amp; HƯỚNG PHÁT TRIỂN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2084832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Nhãn suy ra từ cấu trúc, benchmark còn sinh máy → hướng: benchmark do người soạn.</a:t>
            </a:r>
            <a:endParaRPr lang="en-US" sz="125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chưa có lớp clarify riêng → phụ thuộc φ_amb + Stage 2.</a:t>
            </a:r>
            <a:endParaRPr lang="en-US" sz="125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AMENDS/REPLACES thưa, mới phủ câu lai tường minh → làm giàu quan hệ.</a:t>
            </a:r>
            <a:endParaRPr lang="en-US" sz="125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Lệch định danh Iᵥ ↔ G làm Hit@k hybrid bị đánh giá thấp → chuẩn hoá canonical ID + cross-encoder.</a:t>
            </a:r>
            <a:endParaRPr lang="en-US" sz="125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Hướng: thác nước 3 mức XGBoost→PhoBERT→LLM để giảm tỉ lệ gọi Stage 2.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36576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1371600"/>
            <a:ext cx="548640" cy="548640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Hội đồng đã lắng nghe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mong nhận được các câu hỏi và góp ý.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10515600" cy="2286000"/>
          </a:xfrm>
          <a:prstGeom prst="roundRect">
            <a:avLst>
              <a:gd name="adj" fmla="val 3600"/>
            </a:avLst>
          </a:prstGeom>
          <a:solidFill>
            <a:srgbClr val="F1F6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DEMO trực tiếp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4747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scripts/demo_conversation_routing.py --config configs/config.yaml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minh hoạ 4 tuyến; cùng câu “văn bản đó” cho ra clarify (H rỗng) hoặc graph (H có văn bản).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Đình Thành · 20225670    </a:t>
            </a:r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TS. Phạm Văn Hải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Reasoning-aware Adaptive Routing for Hybrid GraphRAG</dc:title>
  <dc:subject>PptxGenJS Presentation</dc:subject>
  <dc:creator>Nguyễn Đình Thành</dc:creator>
  <cp:lastModifiedBy>Nguyễn Đình Thành</cp:lastModifiedBy>
  <cp:revision>1</cp:revision>
  <dcterms:created xsi:type="dcterms:W3CDTF">2026-07-09T12:08:16Z</dcterms:created>
  <dcterms:modified xsi:type="dcterms:W3CDTF">2026-07-09T12:08:16Z</dcterms:modified>
</cp:coreProperties>
</file>